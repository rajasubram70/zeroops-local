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62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ZeroOps — Reference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</a:rPr>
              <a:t>Canon Europa N.V  ·  ELK as the core platform · Azure AI Foundry intelligence · XURRENT ITSM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005840" cy="129844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18288" y="97840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288" y="1216152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MONITORING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INPUTS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0" y="2304288"/>
            <a:ext cx="1005840" cy="19933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18288" y="236829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288" y="260604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ELK CORE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PLATFORM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0" y="4389120"/>
            <a:ext cx="1005840" cy="111556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" y="445312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288" y="4690872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AZURE AI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FOUNDRY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0" y="5596128"/>
            <a:ext cx="1005840" cy="11155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" y="566013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288" y="589788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VISUALISATION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&amp; EXECUTION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097280" y="914400"/>
            <a:ext cx="1481328" cy="1298448"/>
          </a:xfrm>
          <a:prstGeom prst="rect">
            <a:avLst/>
          </a:prstGeom>
          <a:solidFill>
            <a:srgbClr val="0D1F4A"/>
          </a:solidFill>
          <a:ln w="10160">
            <a:solidFill>
              <a:srgbClr val="1D4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914400"/>
            <a:ext cx="1481328" cy="2011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1161288" y="93268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Oracle OEM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61288" y="116128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EB4E8"/>
                </a:solidFill>
              </a:rPr>
              <a:t>Oracle DB · EBS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EB4E8"/>
                </a:solidFill>
              </a:rPr>
              <a:t>Health &amp; performance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837944" y="2212848"/>
            <a:ext cx="0" cy="109728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2688336" y="914400"/>
            <a:ext cx="1481328" cy="1298448"/>
          </a:xfrm>
          <a:prstGeom prst="rect">
            <a:avLst/>
          </a:prstGeom>
          <a:solidFill>
            <a:srgbClr val="0D1F4A"/>
          </a:solidFill>
          <a:ln w="10160">
            <a:solidFill>
              <a:srgbClr val="1D4E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88336" y="914400"/>
            <a:ext cx="1481328" cy="2011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2752344" y="93268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OCI Monitoring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52344" y="116128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EB4E8"/>
                </a:solidFill>
              </a:rPr>
              <a:t>Compute · Storage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EB4E8"/>
                </a:solidFill>
              </a:rPr>
              <a:t>Network metrics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429000" y="2212848"/>
            <a:ext cx="0" cy="109728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4279392" y="914400"/>
            <a:ext cx="1481328" cy="1298448"/>
          </a:xfrm>
          <a:prstGeom prst="rect">
            <a:avLst/>
          </a:prstGeom>
          <a:solidFill>
            <a:srgbClr val="0D1F4A"/>
          </a:solidFill>
          <a:ln w="10160">
            <a:solidFill>
              <a:srgbClr val="1D4E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9392" y="914400"/>
            <a:ext cx="1481328" cy="2011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9" name="Text 27"/>
          <p:cNvSpPr/>
          <p:nvPr/>
        </p:nvSpPr>
        <p:spPr>
          <a:xfrm>
            <a:off x="4343400" y="93268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Informatica IICS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343400" y="116128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EB4E8"/>
                </a:solidFill>
              </a:rPr>
              <a:t>Pipeline job status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EB4E8"/>
                </a:solidFill>
              </a:rPr>
              <a:t>Data flow health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020056" y="2212848"/>
            <a:ext cx="0" cy="109728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5870448" y="914400"/>
            <a:ext cx="1481328" cy="1298448"/>
          </a:xfrm>
          <a:prstGeom prst="rect">
            <a:avLst/>
          </a:prstGeom>
          <a:solidFill>
            <a:srgbClr val="0D1F4A"/>
          </a:solidFill>
          <a:ln w="10160">
            <a:solidFill>
              <a:srgbClr val="1D4E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70448" y="914400"/>
            <a:ext cx="1481328" cy="2011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4" name="Text 32"/>
          <p:cNvSpPr/>
          <p:nvPr/>
        </p:nvSpPr>
        <p:spPr>
          <a:xfrm>
            <a:off x="5934456" y="93268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Oracle EBS/Finance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934456" y="116128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EB4E8"/>
                </a:solidFill>
              </a:rPr>
              <a:t>Concurrent requests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EB4E8"/>
                </a:solidFill>
              </a:rPr>
              <a:t>WSH · AR queues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611112" y="2212848"/>
            <a:ext cx="0" cy="109728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7461504" y="914400"/>
            <a:ext cx="1481328" cy="1298448"/>
          </a:xfrm>
          <a:prstGeom prst="rect">
            <a:avLst/>
          </a:prstGeom>
          <a:solidFill>
            <a:srgbClr val="0D1F4A"/>
          </a:solidFill>
          <a:ln w="10160">
            <a:solidFill>
              <a:srgbClr val="1D4E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61504" y="914400"/>
            <a:ext cx="1481328" cy="2011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9" name="Text 37"/>
          <p:cNvSpPr/>
          <p:nvPr/>
        </p:nvSpPr>
        <p:spPr>
          <a:xfrm>
            <a:off x="7525512" y="93268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Salesforce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525512" y="116128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EB4E8"/>
                </a:solidFill>
              </a:rPr>
              <a:t>CRM sync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EB4E8"/>
                </a:solidFill>
              </a:rPr>
              <a:t>API health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202168" y="2212848"/>
            <a:ext cx="0" cy="109728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9052560" y="914400"/>
            <a:ext cx="1481328" cy="1298448"/>
          </a:xfrm>
          <a:prstGeom prst="rect">
            <a:avLst/>
          </a:prstGeom>
          <a:solidFill>
            <a:srgbClr val="0D1F4A"/>
          </a:solidFill>
          <a:ln w="10160">
            <a:solidFill>
              <a:srgbClr val="1D4E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52560" y="914400"/>
            <a:ext cx="1481328" cy="2011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4" name="Text 42"/>
          <p:cNvSpPr/>
          <p:nvPr/>
        </p:nvSpPr>
        <p:spPr>
          <a:xfrm>
            <a:off x="9116568" y="93268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Custom Scripts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9116568" y="116128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EB4E8"/>
                </a:solidFill>
              </a:rPr>
              <a:t>Bash/Python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EB4E8"/>
                </a:solidFill>
              </a:rPr>
              <a:t>Ad-hoc monitors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793224" y="2212848"/>
            <a:ext cx="0" cy="109728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10643616" y="914400"/>
            <a:ext cx="1481328" cy="1298448"/>
          </a:xfrm>
          <a:prstGeom prst="rect">
            <a:avLst/>
          </a:prstGeom>
          <a:solidFill>
            <a:srgbClr val="0D1F4A"/>
          </a:solidFill>
          <a:ln w="10160">
            <a:solidFill>
              <a:srgbClr val="1D4E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643616" y="914400"/>
            <a:ext cx="1481328" cy="2011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9" name="Text 47"/>
          <p:cNvSpPr/>
          <p:nvPr/>
        </p:nvSpPr>
        <p:spPr>
          <a:xfrm>
            <a:off x="10707624" y="93268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Accenture DD Ops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0707624" y="116128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EB4E8"/>
                </a:solidFill>
              </a:rPr>
              <a:t>Direct Debit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EB4E8"/>
                </a:solidFill>
              </a:rPr>
              <a:t>batch notifications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1384280" y="2212848"/>
            <a:ext cx="0" cy="109728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1051560" y="2304288"/>
            <a:ext cx="11064240" cy="1993392"/>
          </a:xfrm>
          <a:prstGeom prst="rect">
            <a:avLst/>
          </a:prstGeom>
          <a:solidFill>
            <a:srgbClr val="0A2A2A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1560" y="2304288"/>
            <a:ext cx="11064240" cy="23774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4" name="Text 52"/>
          <p:cNvSpPr/>
          <p:nvPr/>
        </p:nvSpPr>
        <p:spPr>
          <a:xfrm>
            <a:off x="1115568" y="232257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ELK STACK  —  Core Platform  ·  Ingestion · Storage · Correlation · Audit Trail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115568" y="2615184"/>
            <a:ext cx="3474720" cy="1609344"/>
          </a:xfrm>
          <a:prstGeom prst="rect">
            <a:avLst/>
          </a:prstGeom>
          <a:solidFill>
            <a:srgbClr val="0F3535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15568" y="2615184"/>
            <a:ext cx="3474720" cy="201168"/>
          </a:xfrm>
          <a:prstGeom prst="rect">
            <a:avLst/>
          </a:prstGeom>
          <a:solidFill>
            <a:srgbClr val="1A5C5C"/>
          </a:solidFill>
          <a:ln/>
        </p:spPr>
      </p:sp>
      <p:sp>
        <p:nvSpPr>
          <p:cNvPr id="57" name="Text 55"/>
          <p:cNvSpPr/>
          <p:nvPr/>
        </p:nvSpPr>
        <p:spPr>
          <a:xfrm>
            <a:off x="1188720" y="2624328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Logstash · Beats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188720" y="2871216"/>
            <a:ext cx="3310128" cy="274320"/>
          </a:xfrm>
          <a:prstGeom prst="rect">
            <a:avLst/>
          </a:prstGeom>
          <a:solidFill>
            <a:srgbClr val="0D2828"/>
          </a:solidFill>
          <a:ln w="5080">
            <a:solidFill>
              <a:srgbClr val="1A5C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243584" y="28986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0C4C4"/>
                </a:solidFill>
              </a:rPr>
              <a:t>· Ingests from Oracle OEM, OCI, Informatica, Salesforce, Custom Scripts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1188720" y="3200400"/>
            <a:ext cx="3310128" cy="274320"/>
          </a:xfrm>
          <a:prstGeom prst="rect">
            <a:avLst/>
          </a:prstGeom>
          <a:solidFill>
            <a:srgbClr val="0D2828"/>
          </a:solidFill>
          <a:ln w="5080">
            <a:solidFill>
              <a:srgbClr val="1A5C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43584" y="32278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0C4C4"/>
                </a:solidFill>
              </a:rPr>
              <a:t>· Logstash webhook receives push alerts from OCI Events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1188720" y="3529584"/>
            <a:ext cx="3310128" cy="274320"/>
          </a:xfrm>
          <a:prstGeom prst="rect">
            <a:avLst/>
          </a:prstGeom>
          <a:solidFill>
            <a:srgbClr val="0D2828"/>
          </a:solidFill>
          <a:ln w="5080">
            <a:solidFill>
              <a:srgbClr val="1A5C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243584" y="3557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0C4C4"/>
                </a:solidFill>
              </a:rPr>
              <a:t>· Beats agents on Oracle EBS servers for real-time log shipping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1188720" y="3858768"/>
            <a:ext cx="3310128" cy="274320"/>
          </a:xfrm>
          <a:prstGeom prst="rect">
            <a:avLst/>
          </a:prstGeom>
          <a:solidFill>
            <a:srgbClr val="0D2828"/>
          </a:solidFill>
          <a:ln w="5080">
            <a:solidFill>
              <a:srgbClr val="1A5C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243584" y="38862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0C4C4"/>
                </a:solidFill>
              </a:rPr>
              <a:t>· All raw signals land in Elasticsearch — single data lake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2852928" y="4242816"/>
            <a:ext cx="0" cy="164592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  <a:tailEnd type="arrow"/>
          </a:ln>
        </p:spPr>
      </p:sp>
      <p:sp>
        <p:nvSpPr>
          <p:cNvPr id="67" name="Shape 65"/>
          <p:cNvSpPr/>
          <p:nvPr/>
        </p:nvSpPr>
        <p:spPr>
          <a:xfrm>
            <a:off x="4773168" y="2615184"/>
            <a:ext cx="3474720" cy="1609344"/>
          </a:xfrm>
          <a:prstGeom prst="rect">
            <a:avLst/>
          </a:prstGeom>
          <a:solidFill>
            <a:srgbClr val="0F3535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73168" y="2615184"/>
            <a:ext cx="3474720" cy="201168"/>
          </a:xfrm>
          <a:prstGeom prst="rect">
            <a:avLst/>
          </a:prstGeom>
          <a:solidFill>
            <a:srgbClr val="1A5C5C"/>
          </a:solidFill>
          <a:ln/>
        </p:spPr>
      </p:sp>
      <p:sp>
        <p:nvSpPr>
          <p:cNvPr id="69" name="Text 67"/>
          <p:cNvSpPr/>
          <p:nvPr/>
        </p:nvSpPr>
        <p:spPr>
          <a:xfrm>
            <a:off x="4846320" y="2624328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Elasticsearch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846320" y="2871216"/>
            <a:ext cx="3310128" cy="274320"/>
          </a:xfrm>
          <a:prstGeom prst="rect">
            <a:avLst/>
          </a:prstGeom>
          <a:solidFill>
            <a:srgbClr val="0D2828"/>
          </a:solidFill>
          <a:ln w="5080">
            <a:solidFill>
              <a:srgbClr val="1A5C5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01184" y="28986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0C4C4"/>
                </a:solidFill>
              </a:rPr>
              <a:t>· Stores all raw alerts, correlated incidents, ZeroOps audit logs</a:t>
            </a:r>
            <a:endParaRPr lang="en-US" sz="720" dirty="0"/>
          </a:p>
        </p:txBody>
      </p:sp>
      <p:sp>
        <p:nvSpPr>
          <p:cNvPr id="72" name="Shape 70"/>
          <p:cNvSpPr/>
          <p:nvPr/>
        </p:nvSpPr>
        <p:spPr>
          <a:xfrm>
            <a:off x="4846320" y="3200400"/>
            <a:ext cx="3310128" cy="274320"/>
          </a:xfrm>
          <a:prstGeom prst="rect">
            <a:avLst/>
          </a:prstGeom>
          <a:solidFill>
            <a:srgbClr val="0D2828"/>
          </a:solidFill>
          <a:ln w="5080">
            <a:solidFill>
              <a:srgbClr val="1A5C5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01184" y="32278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0C4C4"/>
                </a:solidFill>
              </a:rPr>
              <a:t>· MTTR, auto-fix rate, toil metrics calculated via aggregations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4846320" y="3529584"/>
            <a:ext cx="3310128" cy="274320"/>
          </a:xfrm>
          <a:prstGeom prst="rect">
            <a:avLst/>
          </a:prstGeom>
          <a:solidFill>
            <a:srgbClr val="0D2828"/>
          </a:solidFill>
          <a:ln w="5080">
            <a:solidFill>
              <a:srgbClr val="1A5C5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01184" y="3557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0C4C4"/>
                </a:solidFill>
              </a:rPr>
              <a:t>· Silent Ops log — every ZeroOps autonomous action indexed here</a:t>
            </a:r>
            <a:endParaRPr lang="en-US" sz="720" dirty="0"/>
          </a:p>
        </p:txBody>
      </p:sp>
      <p:sp>
        <p:nvSpPr>
          <p:cNvPr id="76" name="Shape 74"/>
          <p:cNvSpPr/>
          <p:nvPr/>
        </p:nvSpPr>
        <p:spPr>
          <a:xfrm>
            <a:off x="4846320" y="3858768"/>
            <a:ext cx="3310128" cy="274320"/>
          </a:xfrm>
          <a:prstGeom prst="rect">
            <a:avLst/>
          </a:prstGeom>
          <a:solidFill>
            <a:srgbClr val="0D2828"/>
          </a:solidFill>
          <a:ln w="5080">
            <a:solidFill>
              <a:srgbClr val="1A5C5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01184" y="38862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0C4C4"/>
                </a:solidFill>
              </a:rPr>
              <a:t>· XURRENT ticket data synced via bidirectional connector</a:t>
            </a:r>
            <a:endParaRPr lang="en-US" sz="720" dirty="0"/>
          </a:p>
        </p:txBody>
      </p:sp>
      <p:sp>
        <p:nvSpPr>
          <p:cNvPr id="78" name="Shape 76"/>
          <p:cNvSpPr/>
          <p:nvPr/>
        </p:nvSpPr>
        <p:spPr>
          <a:xfrm>
            <a:off x="6510528" y="4242816"/>
            <a:ext cx="0" cy="164592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  <a:tailEnd type="arrow"/>
          </a:ln>
        </p:spPr>
      </p:sp>
      <p:sp>
        <p:nvSpPr>
          <p:cNvPr id="79" name="Shape 77"/>
          <p:cNvSpPr/>
          <p:nvPr/>
        </p:nvSpPr>
        <p:spPr>
          <a:xfrm>
            <a:off x="8430768" y="2615184"/>
            <a:ext cx="3611880" cy="1609344"/>
          </a:xfrm>
          <a:prstGeom prst="rect">
            <a:avLst/>
          </a:prstGeom>
          <a:solidFill>
            <a:srgbClr val="0F3535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430768" y="2615184"/>
            <a:ext cx="3611880" cy="201168"/>
          </a:xfrm>
          <a:prstGeom prst="rect">
            <a:avLst/>
          </a:prstGeom>
          <a:solidFill>
            <a:srgbClr val="1A5C5C"/>
          </a:solidFill>
          <a:ln/>
        </p:spPr>
      </p:sp>
      <p:sp>
        <p:nvSpPr>
          <p:cNvPr id="81" name="Text 79"/>
          <p:cNvSpPr/>
          <p:nvPr/>
        </p:nvSpPr>
        <p:spPr>
          <a:xfrm>
            <a:off x="8503920" y="2624328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Kibana + ZeroOps Layer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503920" y="2871216"/>
            <a:ext cx="3447288" cy="274320"/>
          </a:xfrm>
          <a:prstGeom prst="rect">
            <a:avLst/>
          </a:prstGeom>
          <a:solidFill>
            <a:srgbClr val="0D2828"/>
          </a:solidFill>
          <a:ln w="5080">
            <a:solidFill>
              <a:srgbClr val="1A5C5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558784" y="289864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0C4C4"/>
                </a:solidFill>
              </a:rPr>
              <a:t>· Kibana as base visualisation engine for operational metrics</a:t>
            </a:r>
            <a:endParaRPr lang="en-US" sz="720" dirty="0"/>
          </a:p>
        </p:txBody>
      </p:sp>
      <p:sp>
        <p:nvSpPr>
          <p:cNvPr id="84" name="Shape 82"/>
          <p:cNvSpPr/>
          <p:nvPr/>
        </p:nvSpPr>
        <p:spPr>
          <a:xfrm>
            <a:off x="8503920" y="3200400"/>
            <a:ext cx="3447288" cy="274320"/>
          </a:xfrm>
          <a:prstGeom prst="rect">
            <a:avLst/>
          </a:prstGeom>
          <a:solidFill>
            <a:srgbClr val="0D2828"/>
          </a:solidFill>
          <a:ln w="5080">
            <a:solidFill>
              <a:srgbClr val="1A5C5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558784" y="322783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0C4C4"/>
                </a:solidFill>
              </a:rPr>
              <a:t>· ZeroOps overlays real-time intelligence on top of Kibana data</a:t>
            </a:r>
            <a:endParaRPr lang="en-US" sz="720" dirty="0"/>
          </a:p>
        </p:txBody>
      </p:sp>
      <p:sp>
        <p:nvSpPr>
          <p:cNvPr id="86" name="Shape 84"/>
          <p:cNvSpPr/>
          <p:nvPr/>
        </p:nvSpPr>
        <p:spPr>
          <a:xfrm>
            <a:off x="8503920" y="3529584"/>
            <a:ext cx="3447288" cy="274320"/>
          </a:xfrm>
          <a:prstGeom prst="rect">
            <a:avLst/>
          </a:prstGeom>
          <a:solidFill>
            <a:srgbClr val="0D2828"/>
          </a:solidFill>
          <a:ln w="5080">
            <a:solidFill>
              <a:srgbClr val="1A5C5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558784" y="355701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0C4C4"/>
                </a:solidFill>
              </a:rPr>
              <a:t>· Alert Correlator reduces 4,000 raw alerts → 320 actionable</a:t>
            </a:r>
            <a:endParaRPr lang="en-US" sz="720" dirty="0"/>
          </a:p>
        </p:txBody>
      </p:sp>
      <p:sp>
        <p:nvSpPr>
          <p:cNvPr id="88" name="Shape 86"/>
          <p:cNvSpPr/>
          <p:nvPr/>
        </p:nvSpPr>
        <p:spPr>
          <a:xfrm>
            <a:off x="8503920" y="3858768"/>
            <a:ext cx="3447288" cy="274320"/>
          </a:xfrm>
          <a:prstGeom prst="rect">
            <a:avLst/>
          </a:prstGeom>
          <a:solidFill>
            <a:srgbClr val="0D2828"/>
          </a:solidFill>
          <a:ln w="5080">
            <a:solidFill>
              <a:srgbClr val="1A5C5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558784" y="388620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0C4C4"/>
                </a:solidFill>
              </a:rPr>
              <a:t>· All 6 KPI metrics sourced directly from Elasticsearch indices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10236708" y="4242816"/>
            <a:ext cx="0" cy="164592"/>
          </a:xfrm>
          <a:prstGeom prst="line">
            <a:avLst/>
          </a:prstGeom>
          <a:noFill/>
          <a:ln w="15240">
            <a:solidFill>
              <a:srgbClr val="0E7C7B"/>
            </a:solidFill>
            <a:prstDash val="solid"/>
            <a:tailEnd type="arrow"/>
          </a:ln>
        </p:spPr>
      </p:sp>
      <p:sp>
        <p:nvSpPr>
          <p:cNvPr id="91" name="Shape 89"/>
          <p:cNvSpPr/>
          <p:nvPr/>
        </p:nvSpPr>
        <p:spPr>
          <a:xfrm>
            <a:off x="1051560" y="4389120"/>
            <a:ext cx="11064240" cy="1115568"/>
          </a:xfrm>
          <a:prstGeom prst="rect">
            <a:avLst/>
          </a:prstGeom>
          <a:solidFill>
            <a:srgbClr val="071830"/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51560" y="4389120"/>
            <a:ext cx="11064240" cy="21945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3" name="Text 91"/>
          <p:cNvSpPr/>
          <p:nvPr/>
        </p:nvSpPr>
        <p:spPr>
          <a:xfrm>
            <a:off x="1115568" y="44074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AZURE AI FOUNDRY  —  Agentic Intelligence Layer  ·  ZeroOps agents reason over ELK data and drive autonomous action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1115568" y="4663440"/>
            <a:ext cx="1444752" cy="749808"/>
          </a:xfrm>
          <a:prstGeom prst="rect">
            <a:avLst/>
          </a:prstGeom>
          <a:solidFill>
            <a:srgbClr val="0E2A4A"/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115568" y="47548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Alert</a:t>
            </a:r>
            <a:endParaRPr lang="en-US" sz="8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Correlator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1837944" y="5486400"/>
            <a:ext cx="0" cy="128016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  <a:tailEnd type="arrow"/>
          </a:ln>
        </p:spPr>
      </p:sp>
      <p:sp>
        <p:nvSpPr>
          <p:cNvPr id="97" name="Shape 95"/>
          <p:cNvSpPr/>
          <p:nvPr/>
        </p:nvSpPr>
        <p:spPr>
          <a:xfrm>
            <a:off x="2688336" y="4663440"/>
            <a:ext cx="1444752" cy="749808"/>
          </a:xfrm>
          <a:prstGeom prst="rect">
            <a:avLst/>
          </a:prstGeom>
          <a:solidFill>
            <a:srgbClr val="0E2A4A"/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688336" y="47548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Log</a:t>
            </a:r>
            <a:endParaRPr lang="en-US" sz="8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Analyzer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410712" y="5486400"/>
            <a:ext cx="0" cy="128016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  <a:tailEnd type="arrow"/>
          </a:ln>
        </p:spPr>
      </p:sp>
      <p:sp>
        <p:nvSpPr>
          <p:cNvPr id="100" name="Shape 98"/>
          <p:cNvSpPr/>
          <p:nvPr/>
        </p:nvSpPr>
        <p:spPr>
          <a:xfrm>
            <a:off x="4261104" y="4663440"/>
            <a:ext cx="1444752" cy="749808"/>
          </a:xfrm>
          <a:prstGeom prst="rect">
            <a:avLst/>
          </a:prstGeom>
          <a:solidFill>
            <a:srgbClr val="0E2A4A"/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261104" y="47548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RCA</a:t>
            </a:r>
            <a:endParaRPr lang="en-US" sz="8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Engine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4983480" y="5486400"/>
            <a:ext cx="0" cy="128016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  <a:tailEnd type="arrow"/>
          </a:ln>
        </p:spPr>
      </p:sp>
      <p:sp>
        <p:nvSpPr>
          <p:cNvPr id="103" name="Shape 101"/>
          <p:cNvSpPr/>
          <p:nvPr/>
        </p:nvSpPr>
        <p:spPr>
          <a:xfrm>
            <a:off x="5833872" y="4663440"/>
            <a:ext cx="1444752" cy="749808"/>
          </a:xfrm>
          <a:prstGeom prst="rect">
            <a:avLst/>
          </a:prstGeom>
          <a:solidFill>
            <a:srgbClr val="0E2A4A"/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833872" y="47548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Remediation</a:t>
            </a:r>
            <a:endParaRPr lang="en-US" sz="8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Agent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6556248" y="5486400"/>
            <a:ext cx="0" cy="128016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  <a:tailEnd type="arrow"/>
          </a:ln>
        </p:spPr>
      </p:sp>
      <p:sp>
        <p:nvSpPr>
          <p:cNvPr id="106" name="Shape 104"/>
          <p:cNvSpPr/>
          <p:nvPr/>
        </p:nvSpPr>
        <p:spPr>
          <a:xfrm>
            <a:off x="7406640" y="4663440"/>
            <a:ext cx="1444752" cy="749808"/>
          </a:xfrm>
          <a:prstGeom prst="rect">
            <a:avLst/>
          </a:prstGeom>
          <a:solidFill>
            <a:srgbClr val="0E2A4A"/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406640" y="47548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Change</a:t>
            </a:r>
            <a:endParaRPr lang="en-US" sz="8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Validator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8129016" y="5486400"/>
            <a:ext cx="0" cy="128016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  <a:tailEnd type="arrow"/>
          </a:ln>
        </p:spPr>
      </p:sp>
      <p:sp>
        <p:nvSpPr>
          <p:cNvPr id="109" name="Shape 107"/>
          <p:cNvSpPr/>
          <p:nvPr/>
        </p:nvSpPr>
        <p:spPr>
          <a:xfrm>
            <a:off x="8979408" y="4663440"/>
            <a:ext cx="1444752" cy="749808"/>
          </a:xfrm>
          <a:prstGeom prst="rect">
            <a:avLst/>
          </a:prstGeom>
          <a:solidFill>
            <a:srgbClr val="0E2A4A"/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979408" y="47548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Capacity</a:t>
            </a:r>
            <a:endParaRPr lang="en-US" sz="8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Planner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9701784" y="5486400"/>
            <a:ext cx="0" cy="128016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  <a:tailEnd type="arrow"/>
          </a:ln>
        </p:spPr>
      </p:sp>
      <p:sp>
        <p:nvSpPr>
          <p:cNvPr id="112" name="Shape 110"/>
          <p:cNvSpPr/>
          <p:nvPr/>
        </p:nvSpPr>
        <p:spPr>
          <a:xfrm>
            <a:off x="10552176" y="4663440"/>
            <a:ext cx="1444752" cy="749808"/>
          </a:xfrm>
          <a:prstGeom prst="rect">
            <a:avLst/>
          </a:prstGeom>
          <a:solidFill>
            <a:srgbClr val="0E2A4A"/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552176" y="47548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Oracle</a:t>
            </a:r>
            <a:endParaRPr lang="en-US" sz="8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Ops Agent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11274552" y="5486400"/>
            <a:ext cx="0" cy="128016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  <a:tailEnd type="arrow"/>
          </a:ln>
        </p:spPr>
      </p:sp>
      <p:sp>
        <p:nvSpPr>
          <p:cNvPr id="115" name="Shape 113"/>
          <p:cNvSpPr/>
          <p:nvPr/>
        </p:nvSpPr>
        <p:spPr>
          <a:xfrm>
            <a:off x="11832336" y="4663440"/>
            <a:ext cx="256032" cy="74980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6" name="Text 114"/>
          <p:cNvSpPr/>
          <p:nvPr/>
        </p:nvSpPr>
        <p:spPr>
          <a:xfrm>
            <a:off x="11832336" y="4736592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50" b="1" dirty="0">
                <a:solidFill>
                  <a:srgbClr val="FFFFFF"/>
                </a:solidFill>
              </a:rPr>
              <a:t>Claude</a:t>
            </a:r>
            <a:endParaRPr lang="en-US" sz="5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550" b="1" dirty="0">
                <a:solidFill>
                  <a:srgbClr val="FFFFFF"/>
                </a:solidFill>
              </a:rPr>
              <a:t>Sonnet</a:t>
            </a:r>
            <a:endParaRPr lang="en-US" sz="550" dirty="0"/>
          </a:p>
        </p:txBody>
      </p:sp>
      <p:sp>
        <p:nvSpPr>
          <p:cNvPr id="117" name="Shape 115"/>
          <p:cNvSpPr/>
          <p:nvPr/>
        </p:nvSpPr>
        <p:spPr>
          <a:xfrm>
            <a:off x="1051560" y="5596128"/>
            <a:ext cx="11064240" cy="1170432"/>
          </a:xfrm>
          <a:prstGeom prst="rect">
            <a:avLst/>
          </a:prstGeom>
          <a:solidFill>
            <a:srgbClr val="0A2010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51560" y="5596128"/>
            <a:ext cx="11064240" cy="21945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9" name="Text 117"/>
          <p:cNvSpPr/>
          <p:nvPr/>
        </p:nvSpPr>
        <p:spPr>
          <a:xfrm>
            <a:off x="1115568" y="5614416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VISUALISATION &amp; EXECUTION  —  Command Centre · XURRENT ITSM · OCI Automation · Notifications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1115568" y="5870448"/>
            <a:ext cx="1444752" cy="822960"/>
          </a:xfrm>
          <a:prstGeom prst="rect">
            <a:avLst/>
          </a:prstGeom>
          <a:solidFill>
            <a:srgbClr val="193D28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115568" y="590702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ZeroOps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Command Centre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1115568" y="62362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0C4A0"/>
                </a:solidFill>
              </a:rPr>
              <a:t>React/Kibana · Kibana Canvas</a:t>
            </a:r>
            <a:endParaRPr lang="en-US" sz="6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0C4A0"/>
                </a:solidFill>
              </a:rPr>
              <a:t>Pulls from Elasticsearch API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2688336" y="5870448"/>
            <a:ext cx="1444752" cy="822960"/>
          </a:xfrm>
          <a:prstGeom prst="rect">
            <a:avLst/>
          </a:prstGeom>
          <a:solidFill>
            <a:srgbClr val="193D28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688336" y="590702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XURRENT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(ITSM)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2688336" y="62362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0C4A0"/>
                </a:solidFill>
              </a:rPr>
              <a:t>Bidirectional · OAuth 2.0</a:t>
            </a:r>
            <a:endParaRPr lang="en-US" sz="6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0C4A0"/>
                </a:solidFill>
              </a:rPr>
              <a:t>Create · Update · Auto-close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4261104" y="5870448"/>
            <a:ext cx="1444752" cy="822960"/>
          </a:xfrm>
          <a:prstGeom prst="rect">
            <a:avLst/>
          </a:prstGeom>
          <a:solidFill>
            <a:srgbClr val="0F2A1A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261104" y="590702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OCI Native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Automation</a:t>
            </a:r>
            <a:endParaRPr lang="en-US" sz="750" dirty="0"/>
          </a:p>
        </p:txBody>
      </p:sp>
      <p:sp>
        <p:nvSpPr>
          <p:cNvPr id="128" name="Text 126"/>
          <p:cNvSpPr/>
          <p:nvPr/>
        </p:nvSpPr>
        <p:spPr>
          <a:xfrm>
            <a:off x="4261104" y="62362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0C4A0"/>
                </a:solidFill>
              </a:rPr>
              <a:t>Compute scale · Storage</a:t>
            </a:r>
            <a:endParaRPr lang="en-US" sz="6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0C4A0"/>
                </a:solidFill>
              </a:rPr>
              <a:t>Resource APIs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5833872" y="5870448"/>
            <a:ext cx="1444752" cy="822960"/>
          </a:xfrm>
          <a:prstGeom prst="rect">
            <a:avLst/>
          </a:prstGeom>
          <a:solidFill>
            <a:srgbClr val="0F2A1A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833872" y="590702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Custom Scripts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Bash/Py</a:t>
            </a:r>
            <a:endParaRPr lang="en-US" sz="750" dirty="0"/>
          </a:p>
        </p:txBody>
      </p:sp>
      <p:sp>
        <p:nvSpPr>
          <p:cNvPr id="131" name="Text 129"/>
          <p:cNvSpPr/>
          <p:nvPr/>
        </p:nvSpPr>
        <p:spPr>
          <a:xfrm>
            <a:off x="5833872" y="62362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0C4A0"/>
                </a:solidFill>
              </a:rPr>
              <a:t>Pre-approved runbooks</a:t>
            </a:r>
            <a:endParaRPr lang="en-US" sz="6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0C4A0"/>
                </a:solidFill>
              </a:rPr>
              <a:t>OCI Bastion execution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7406640" y="5870448"/>
            <a:ext cx="1444752" cy="822960"/>
          </a:xfrm>
          <a:prstGeom prst="rect">
            <a:avLst/>
          </a:prstGeom>
          <a:solidFill>
            <a:srgbClr val="0F2A1A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406640" y="590702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Oracle EBS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Actions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7406640" y="62362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0C4A0"/>
                </a:solidFill>
              </a:rPr>
              <a:t>Reprocessing · WSH</a:t>
            </a:r>
            <a:endParaRPr lang="en-US" sz="6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0C4A0"/>
                </a:solidFill>
              </a:rPr>
              <a:t>SM37 scheduling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8979408" y="5870448"/>
            <a:ext cx="1444752" cy="822960"/>
          </a:xfrm>
          <a:prstGeom prst="rect">
            <a:avLst/>
          </a:prstGeom>
          <a:solidFill>
            <a:srgbClr val="0F2A1A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979408" y="590702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Informatica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IICS API</a:t>
            </a:r>
            <a:endParaRPr lang="en-US" sz="750" dirty="0"/>
          </a:p>
        </p:txBody>
      </p:sp>
      <p:sp>
        <p:nvSpPr>
          <p:cNvPr id="137" name="Text 135"/>
          <p:cNvSpPr/>
          <p:nvPr/>
        </p:nvSpPr>
        <p:spPr>
          <a:xfrm>
            <a:off x="8979408" y="62362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0C4A0"/>
                </a:solidFill>
              </a:rPr>
              <a:t>Job restart</a:t>
            </a:r>
            <a:endParaRPr lang="en-US" sz="6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0C4A0"/>
                </a:solidFill>
              </a:rPr>
              <a:t>Pipeline reset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10552176" y="5870448"/>
            <a:ext cx="1444752" cy="822960"/>
          </a:xfrm>
          <a:prstGeom prst="rect">
            <a:avLst/>
          </a:prstGeom>
          <a:solidFill>
            <a:srgbClr val="0F2A1A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0552176" y="5907024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Accenture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</a:rPr>
              <a:t>DD Notify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10552176" y="62362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0C4A0"/>
                </a:solidFill>
              </a:rPr>
              <a:t>Same-period rerun</a:t>
            </a:r>
            <a:endParaRPr lang="en-US" sz="6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0C4A0"/>
                </a:solidFill>
              </a:rPr>
              <a:t>Mandate confirm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62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Integration Patterns &amp; Push/Pull Schema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</a:rPr>
              <a:t>How ZeroOps connects to the Canon ecosystem — data direction, frequency and protocol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987552"/>
            <a:ext cx="11823192" cy="292608"/>
          </a:xfrm>
          <a:prstGeom prst="rect">
            <a:avLst/>
          </a:prstGeom>
          <a:solidFill>
            <a:srgbClr val="0B1629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3327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SOURCE SYSTEM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783080" y="10332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DIRECTION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063240" y="10332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FREQUENCY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343400" y="10332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PROTOCOL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400800" y="1033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DATA FLOW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2880" y="1280160"/>
            <a:ext cx="11823192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280160"/>
            <a:ext cx="54864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444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ELK Stack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01368" y="1426464"/>
            <a:ext cx="1188720" cy="237744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01368" y="14264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PULL + PUSH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081528" y="1444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30s poll + webhook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61688" y="14447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Elasticsearch REST API · Logstash pipeline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19088" y="138988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ELK alert fired → Logstash webhook → Alert Correlator → correlation → XURRENT incident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2880" y="1874520"/>
            <a:ext cx="11823192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1874520"/>
            <a:ext cx="54864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0391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Oracle OEM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01368" y="2020824"/>
            <a:ext cx="1188720" cy="237744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01368" y="20208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PULL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081528" y="2039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60s poll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361688" y="20391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OEM REST API (HTTPS)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419088" y="198424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OEM threshold breach → ZeroOps pulls event feed → Oracle Ops Agent → RCA Engine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82880" y="2468880"/>
            <a:ext cx="11823192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468880"/>
            <a:ext cx="54864" cy="5669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633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OCI Monitoring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801368" y="2615184"/>
            <a:ext cx="1188720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01368" y="26151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PUSH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081528" y="2633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Event-driven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61688" y="26334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OCI Events + Notifications (webhook)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419088" y="25786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OCI metric alarm → webhook → Alert Correlator → Capacity Planner or Remediation Agent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2880" y="3063240"/>
            <a:ext cx="11823192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0" y="3063240"/>
            <a:ext cx="54864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3227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Informatica IICS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801368" y="3209544"/>
            <a:ext cx="1188720" cy="237744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01368" y="32095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PULL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081528" y="32278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5 min poll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61688" y="32278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IICS REST API v3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419088" y="317296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Job status poll → failed job detected → RCA Engine → Remediation Agent → job restart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82880" y="3657600"/>
            <a:ext cx="11823192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2880" y="3657600"/>
            <a:ext cx="54864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3822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XURRENT (ITSM)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801368" y="3803904"/>
            <a:ext cx="1188720" cy="237744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01368" y="38039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BIDIRECTIONAL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081528" y="38221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Real-time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361688" y="3822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XURRENT REST API (OAuth 2.0)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419088" y="3767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ZeroOps creates ticket → updates at each step → auto-closes on resolution → audit log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82880" y="4251960"/>
            <a:ext cx="11823192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2880" y="4251960"/>
            <a:ext cx="54864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4416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Oracle EBS / Finance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801368" y="4398264"/>
            <a:ext cx="1188720" cy="237744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01368" y="43982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PULL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081528" y="4416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 min poll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361688" y="44165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Oracle DB listener + OEM API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419088" y="436168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MTL/WSH queue depth → ship confirm stall → Remediation Agent → EBS reprocessing script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82880" y="4846320"/>
            <a:ext cx="11823192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2880" y="4846320"/>
            <a:ext cx="54864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50109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Azure AI Foundry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801368" y="4992624"/>
            <a:ext cx="1188720" cy="237744"/>
          </a:xfrm>
          <a:prstGeom prst="rect">
            <a:avLst/>
          </a:prstGeom>
          <a:solidFill>
            <a:srgbClr val="DBEAFE"/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01368" y="49926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78D4"/>
                </a:solidFill>
              </a:rPr>
              <a:t>INTERNAL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081528" y="50109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Per incident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361688" y="50109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AI Foundry Agent SDK (HTTPS)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419088" y="495604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Alert received → Foundry orchestrates RCA + Remediation agents → returns action plan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82880" y="5440680"/>
            <a:ext cx="11823192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2880" y="5440680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0" name="Text 68"/>
          <p:cNvSpPr/>
          <p:nvPr/>
        </p:nvSpPr>
        <p:spPr>
          <a:xfrm>
            <a:off x="274320" y="56052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Custom Scripts (Bash/Py)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801368" y="5586984"/>
            <a:ext cx="1188720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801368" y="55869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PUSH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3081528" y="5605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On trigger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361688" y="56052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SSH / OCI Bastion / REST callback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419088" y="55504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Remediation Agent selects pre-approved script → executes via OCI Bastion → result webhook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82880" y="6035040"/>
            <a:ext cx="11823192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2880" y="6035040"/>
            <a:ext cx="54864" cy="56692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8" name="Text 76"/>
          <p:cNvSpPr/>
          <p:nvPr/>
        </p:nvSpPr>
        <p:spPr>
          <a:xfrm>
            <a:off x="274320" y="61996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Accenture DD Ops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1801368" y="6181344"/>
            <a:ext cx="1188720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801368" y="61813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PUSH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3081528" y="61996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On DD event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361688" y="61996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Email + XURRENT webhook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419088" y="614476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AR mandate fixed → ZeroOps notifies Accenture → same-period DD rerun confirmed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182880" y="6492240"/>
            <a:ext cx="11823192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6032" y="6510528"/>
            <a:ext cx="1170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ELK Stack is the primary signal source.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Azure AI Foundry is the orchestration engine. ZeroOps agents run within Foundry, reasoning over ELK + OEM + OCI signals, and executing via pre-approved scripts and OCI native automation. XURRENT is the single system of record — every action is logged and auditable.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6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</a:rPr>
              <a:t>HOW WILL YOU IMPLEMENT IT AT CANON?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Implementation Answer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5074920"/>
          </a:xfrm>
          <a:prstGeom prst="rect">
            <a:avLst/>
          </a:prstGeom>
          <a:solidFill>
            <a:srgbClr val="1E3A5F"/>
          </a:solidFill>
          <a:ln w="1016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2743200" cy="2743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26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  Connect ELK as Signal Source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2560320" cy="749808"/>
          </a:xfrm>
          <a:prstGeom prst="rect">
            <a:avLst/>
          </a:prstGeom>
          <a:solidFill>
            <a:srgbClr val="0E7C7B"/>
          </a:solidFill>
          <a:ln w="508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90195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ELK is already ingesting Oracle EBS, OAS, Informatica and OCI logs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2633472"/>
            <a:ext cx="2560320" cy="749808"/>
          </a:xfrm>
          <a:prstGeom prst="rect">
            <a:avLst/>
          </a:prstGeom>
          <a:solidFill>
            <a:srgbClr val="0E7C7B"/>
          </a:solidFill>
          <a:ln w="508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7249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ZeroOps connects via Elasticsearch REST API — 30s alert poll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3456432"/>
            <a:ext cx="2560320" cy="749808"/>
          </a:xfrm>
          <a:prstGeom prst="rect">
            <a:avLst/>
          </a:prstGeom>
          <a:solidFill>
            <a:srgbClr val="0E7C7B"/>
          </a:solidFill>
          <a:ln w="508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54787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Logstash webhook pushes critical alerts in real time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4279392"/>
            <a:ext cx="2560320" cy="749808"/>
          </a:xfrm>
          <a:prstGeom prst="rect">
            <a:avLst/>
          </a:prstGeom>
          <a:solidFill>
            <a:srgbClr val="0E7C7B"/>
          </a:solidFill>
          <a:ln w="508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3708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No new monitoring agent needed — ELK becomes the alert bus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5102352"/>
            <a:ext cx="2560320" cy="749808"/>
          </a:xfrm>
          <a:prstGeom prst="rect">
            <a:avLst/>
          </a:prstGeom>
          <a:solidFill>
            <a:srgbClr val="0E7C7B"/>
          </a:solidFill>
          <a:ln w="508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51937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Day 1 value: Alert Correlator reduces 4,000 alerts to ~320 actionable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0" y="1417320"/>
            <a:ext cx="2743200" cy="5074920"/>
          </a:xfrm>
          <a:prstGeom prst="rect">
            <a:avLst/>
          </a:prstGeom>
          <a:solidFill>
            <a:srgbClr val="1E3A5F"/>
          </a:solidFill>
          <a:ln w="10160">
            <a:solidFill>
              <a:srgbClr val="007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1417320"/>
            <a:ext cx="2743200" cy="2743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1426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  Layer Azure AI Foundry Agents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91840" y="1810512"/>
            <a:ext cx="2560320" cy="749808"/>
          </a:xfrm>
          <a:prstGeom prst="rect">
            <a:avLst/>
          </a:prstGeom>
          <a:solidFill>
            <a:srgbClr val="0078D4"/>
          </a:solidFill>
          <a:ln w="508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190195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ZeroOps agents deployed within Azure AI Foundry Agent framework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91840" y="2633472"/>
            <a:ext cx="2560320" cy="749808"/>
          </a:xfrm>
          <a:prstGeom prst="rect">
            <a:avLst/>
          </a:prstGeom>
          <a:solidFill>
            <a:srgbClr val="0078D4"/>
          </a:solidFill>
          <a:ln w="5080">
            <a:solidFill>
              <a:srgbClr val="0078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27249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Prompt Flow orchestrates RCA Engine, Log Analyzer, Remediation Agent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91840" y="3456432"/>
            <a:ext cx="2560320" cy="749808"/>
          </a:xfrm>
          <a:prstGeom prst="rect">
            <a:avLst/>
          </a:prstGeom>
          <a:solidFill>
            <a:srgbClr val="0078D4"/>
          </a:solidFill>
          <a:ln w="508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354787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Claude Sonnet as the reasoning LLM — full Canon context injected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91840" y="4279392"/>
            <a:ext cx="2560320" cy="749808"/>
          </a:xfrm>
          <a:prstGeom prst="rect">
            <a:avLst/>
          </a:prstGeom>
          <a:solidFill>
            <a:srgbClr val="0078D4"/>
          </a:solidFill>
          <a:ln w="5080">
            <a:solidFill>
              <a:srgbClr val="0078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43708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Oracle OEM and OCI Monitoring connected as secondary signal sources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91840" y="5102352"/>
            <a:ext cx="2560320" cy="749808"/>
          </a:xfrm>
          <a:prstGeom prst="rect">
            <a:avLst/>
          </a:prstGeom>
          <a:solidFill>
            <a:srgbClr val="0078D4"/>
          </a:solidFill>
          <a:ln w="5080">
            <a:solidFill>
              <a:srgbClr val="0078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51937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Pre-approved remediation scripts registered in Tool Registry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1417320"/>
            <a:ext cx="2743200" cy="5074920"/>
          </a:xfrm>
          <a:prstGeom prst="rect">
            <a:avLst/>
          </a:prstGeom>
          <a:solidFill>
            <a:srgbClr val="1E3A5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1417320"/>
            <a:ext cx="274320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1426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  Close the Loop with XURRENT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0" y="1810512"/>
            <a:ext cx="2560320" cy="749808"/>
          </a:xfrm>
          <a:prstGeom prst="rect">
            <a:avLst/>
          </a:prstGeom>
          <a:solidFill>
            <a:srgbClr val="7C3AED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190195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XURRENT REST API — bidirectional, OAuth 2.0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17920" y="2633472"/>
            <a:ext cx="2560320" cy="749808"/>
          </a:xfrm>
          <a:prstGeom prst="rect">
            <a:avLst/>
          </a:prstGeom>
          <a:solidFill>
            <a:srgbClr val="7C3AED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27249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ZeroOps auto-creates incident on detection, updates at each agent step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17920" y="3456432"/>
            <a:ext cx="2560320" cy="749808"/>
          </a:xfrm>
          <a:prstGeom prst="rect">
            <a:avLst/>
          </a:prstGeom>
          <a:solidFill>
            <a:srgbClr val="7C3AED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354787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Auto-closes ticket with full resolution evidence on success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17920" y="4279392"/>
            <a:ext cx="2560320" cy="749808"/>
          </a:xfrm>
          <a:prstGeom prst="rect">
            <a:avLst/>
          </a:prstGeom>
          <a:solidFill>
            <a:srgbClr val="7C3AED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43708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Human-in-Loop gate: XURRENT approval task for Guardian pillar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17920" y="5102352"/>
            <a:ext cx="2560320" cy="749808"/>
          </a:xfrm>
          <a:prstGeom prst="rect">
            <a:avLst/>
          </a:prstGeom>
          <a:solidFill>
            <a:srgbClr val="7C3AED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1072" y="51937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Full audit trail — every ZeroOps action timestamped in XURRENT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052560" y="1417320"/>
            <a:ext cx="2743200" cy="5074920"/>
          </a:xfrm>
          <a:prstGeom prst="rect">
            <a:avLst/>
          </a:prstGeom>
          <a:solidFill>
            <a:srgbClr val="1E3A5F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52560" y="1417320"/>
            <a:ext cx="274320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00" y="1426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  Execute via OCI + Scripts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144000" y="1810512"/>
            <a:ext cx="2560320" cy="749808"/>
          </a:xfrm>
          <a:prstGeom prst="rect">
            <a:avLst/>
          </a:prstGeom>
          <a:solidFill>
            <a:srgbClr val="16A34A"/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7152" y="190195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Pre-approved Bash/Python scripts executed via OCI Bastion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0" y="2633472"/>
            <a:ext cx="2560320" cy="749808"/>
          </a:xfrm>
          <a:prstGeom prst="rect">
            <a:avLst/>
          </a:prstGeom>
          <a:solidFill>
            <a:srgbClr val="16A34A"/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17152" y="27249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OCI native APIs for compute scaling, storage management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9144000" y="3456432"/>
            <a:ext cx="2560320" cy="749808"/>
          </a:xfrm>
          <a:prstGeom prst="rect">
            <a:avLst/>
          </a:prstGeom>
          <a:solidFill>
            <a:srgbClr val="16A34A"/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17152" y="354787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Informatica IICS REST API for job restart and pipeline reset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144000" y="4279392"/>
            <a:ext cx="2560320" cy="749808"/>
          </a:xfrm>
          <a:prstGeom prst="rect">
            <a:avLst/>
          </a:prstGeom>
          <a:solidFill>
            <a:srgbClr val="16A34A"/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17152" y="43708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Accenture DD Ops notified via XURRENT webhook on mandate fix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144000" y="5102352"/>
            <a:ext cx="2560320" cy="749808"/>
          </a:xfrm>
          <a:prstGeom prst="rect">
            <a:avLst/>
          </a:prstGeom>
          <a:solidFill>
            <a:srgbClr val="16A34A"/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17152" y="51937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All executions risk-scored — auto if &lt;25, HiTL if 25-50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8" name="Text 56"/>
          <p:cNvSpPr/>
          <p:nvPr/>
        </p:nvSpPr>
        <p:spPr>
          <a:xfrm>
            <a:off x="274320" y="6528816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 short: </a:t>
            </a:r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ELK as the observability signal source  ·  Azure AI Foundry as the agentic brain  ·  OCI + Scripts as the execution layer  ·  XURRENT as the ITSM system of record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ZeroOps Reference Architecture — Canon Europa</dc:title>
  <dc:subject>PptxGenJS Presentation</dc:subject>
  <dc:creator>PptxGenJS</dc:creator>
  <cp:lastModifiedBy>PptxGenJS</cp:lastModifiedBy>
  <cp:revision>1</cp:revision>
  <dcterms:created xsi:type="dcterms:W3CDTF">2026-04-30T09:27:12Z</dcterms:created>
  <dcterms:modified xsi:type="dcterms:W3CDTF">2026-04-30T09:27:12Z</dcterms:modified>
</cp:coreProperties>
</file>